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6"/>
    <p:sldId id="258" r:id="rId4"/>
    <p:sldId id="259" r:id="rId5"/>
    <p:sldId id="260" r:id="rId6"/>
    <p:sldId id="261" r:id="rId7"/>
    <p:sldId id="265" r:id="rId8"/>
    <p:sldId id="262" r:id="rId9"/>
    <p:sldId id="267" r:id="rId17"/>
    <p:sldId id="268" r:id="rId18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3" d="100"/>
          <a:sy n="113" d="100"/>
        </p:scale>
        <p:origin x="43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3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enu_bg.pn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ppt_dark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COCOS CREATOR 3.8.8   /   HARMONYOS NEXT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4526280"/>
            <a:ext cx="4023360" cy="0"/>
          </a:xfrm>
          <a:prstGeom prst="line">
            <a:avLst/>
          </a:prstGeom>
          <a:ln w="12700">
            <a:solidFill>
              <a:srgbClr val="D8B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4590288"/>
            <a:ext cx="7315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4EBDD"/>
                </a:solidFill>
                <a:latin typeface="Microsoft YaHei"/>
              </a:rPr>
              <a:t>喵音回廊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5321808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D8B27A"/>
                </a:solidFill>
                <a:latin typeface="Bahnschrift"/>
              </a:rPr>
              <a:t>MEOWLO CORRIDOR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148840"/>
            <a:ext cx="54864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4EBDD"/>
                </a:solidFill>
                <a:latin typeface="Microsoft YaHei"/>
              </a:rPr>
              <a:t>妈妈的唱片碎在迷宫深处，
小八要把它们一块块找回来。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5943600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D8B27A"/>
                </a:solidFill>
                <a:latin typeface="Bahnschrift"/>
              </a:rPr>
              <a:t>V5.0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5971032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2026  ·  横屏 2D 迷宫冒险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01  / 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utorial_story.png"/>
          <p:cNvPicPr>
            <a:picLocks noChangeAspect="1"/>
          </p:cNvPicPr>
          <p:nvPr/>
        </p:nvPicPr>
        <p:blipFill>
          <a:blip r:embed="rId2"/>
          <a:srcRect l="19501" r="19501"/>
          <a:stretch>
            <a:fillRect/>
          </a:stretch>
        </p:blipFill>
        <p:spPr>
          <a:xfrm>
            <a:off x="4754880" y="0"/>
            <a:ext cx="7436815" cy="6858000"/>
          </a:xfrm>
          <a:prstGeom prst="rect">
            <a:avLst/>
          </a:prstGeom>
        </p:spPr>
      </p:pic>
      <p:pic>
        <p:nvPicPr>
          <p:cNvPr id="3" name="Picture 2" descr="ppt_left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98932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STORY  /  故事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475488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一张唱片，
被摔成了碎片。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78608"/>
            <a:ext cx="4892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F4EBDD"/>
                </a:solidFill>
                <a:latin typeface="Microsoft YaHei"/>
              </a:rPr>
              <a:t>妈妈的唱片被蝙蝠抢走，碎在迷宫深处。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75887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D8B27A"/>
                </a:solidFill>
                <a:latin typeface="Microsoft YaHei"/>
              </a:rPr>
              <a:t>小八要找回每一块碎片，把唱片带回给妈妈。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4800600"/>
            <a:ext cx="4206240" cy="0"/>
          </a:xfrm>
          <a:prstGeom prst="line">
            <a:avLst/>
          </a:prstGeom>
          <a:ln w="10160">
            <a:solidFill>
              <a:srgbClr val="D8B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9377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9C8E82"/>
                </a:solidFill>
                <a:latin typeface="Microsoft YaHei"/>
              </a:rPr>
              <a:t>出口，就藏在音乐重新响起的地方。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02  / 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35C"/>
                </a:solidFill>
                <a:latin typeface="Microsoft YaHei"/>
              </a:rPr>
              <a:t>MELODY  /  旋律碎片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78992"/>
            <a:ext cx="73152" cy="1920240"/>
          </a:xfrm>
          <a:prstGeom prst="rect">
            <a:avLst/>
          </a:prstGeom>
          <a:solidFill>
            <a:srgbClr val="F2B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960120"/>
            <a:ext cx="594360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F3E7D3"/>
                </a:solidFill>
                <a:latin typeface="Microsoft YaHei"/>
              </a:rPr>
              <a:t>每一块碎片，</a:t>
            </a:r>
          </a:p>
          <a:p>
            <a:pPr algn="l">
              <a:lnSpc>
                <a:spcPct val="115000"/>
              </a:lnSpc>
            </a:pPr>
            <a:r>
              <a:rPr sz="3100" b="1">
                <a:solidFill>
                  <a:srgbClr val="F3E7D3"/>
                </a:solidFill>
                <a:latin typeface="Microsoft YaHei"/>
              </a:rPr>
              <a:t>都是一段旋律。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743200"/>
            <a:ext cx="566928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8FD3D6"/>
                </a:solidFill>
                <a:latin typeface="Microsoft YaHei"/>
              </a:rPr>
              <a:t>每一次探索，</a:t>
            </a:r>
          </a:p>
          <a:p>
            <a:pPr algn="l">
              <a:lnSpc>
                <a:spcPct val="130000"/>
              </a:lnSpc>
            </a:pPr>
            <a:r>
              <a:rPr sz="2200" b="0">
                <a:solidFill>
                  <a:srgbClr val="8FD3D6"/>
                </a:solidFill>
                <a:latin typeface="Microsoft YaHei"/>
              </a:rPr>
              <a:t>都是一首未完成的歌。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41605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AA9E91"/>
                </a:solidFill>
                <a:latin typeface="Microsoft YaHei"/>
              </a:rPr>
              <a:t>把迷宫走成谱面，把拾取变成编曲。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4892040"/>
            <a:ext cx="219456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碎片 = 一条音轨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4892040"/>
            <a:ext cx="219456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探索 = 一次编曲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23560" y="4892040"/>
            <a:ext cx="219456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通关 = 完整播放</a:t>
            </a:r>
          </a:p>
        </p:txBody>
      </p:sp>
      <p:pic>
        <p:nvPicPr>
          <p:cNvPr id="10" name="Picture 9" descr="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051560"/>
            <a:ext cx="3474720" cy="347472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955279" y="685800"/>
            <a:ext cx="4206240" cy="4206240"/>
          </a:xfrm>
          <a:prstGeom prst="ellipse">
            <a:avLst/>
          </a:prstGeom>
          <a:noFill/>
          <a:ln w="10160">
            <a:solidFill>
              <a:srgbClr val="50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89520" y="320040"/>
            <a:ext cx="4937760" cy="4937760"/>
          </a:xfrm>
          <a:prstGeom prst="ellipse">
            <a:avLst/>
          </a:prstGeom>
          <a:noFill/>
          <a:ln w="10160">
            <a:solidFill>
              <a:srgbClr val="50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516636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400" b="0">
                <a:solidFill>
                  <a:srgbClr val="AA9E91"/>
                </a:solidFill>
                <a:latin typeface="Microsoft YaHei"/>
              </a:rPr>
              <a:t>音乐不是终点，</a:t>
            </a:r>
          </a:p>
          <a:p>
            <a:pPr algn="r">
              <a:lnSpc>
                <a:spcPct val="130000"/>
              </a:lnSpc>
            </a:pPr>
            <a:r>
              <a:rPr sz="1400" b="0">
                <a:solidFill>
                  <a:srgbClr val="AA9E91"/>
                </a:solidFill>
                <a:latin typeface="Microsoft YaHei"/>
              </a:rPr>
              <a:t>是走过的每一步。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6355080"/>
            <a:ext cx="10698480" cy="0"/>
          </a:xfrm>
          <a:prstGeom prst="line">
            <a:avLst/>
          </a:prstGeom>
          <a:ln w="10160">
            <a:solidFill>
              <a:srgbClr val="4637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642823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A9E91"/>
                </a:solidFill>
                <a:latin typeface="Microsoft YaHei"/>
              </a:rPr>
              <a:t>MEOWLO CORRIDOR  /  V5.0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03  / 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CORE LOOP  /  核心循环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找到、拼回、离开。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>
                <a:solidFill>
                  <a:srgbClr val="AA9E91"/>
                </a:solidFill>
                <a:latin typeface="Microsoft YaHei"/>
              </a:rPr>
              <a:t>一局 5–9 分钟。在黑暗里探索，把音乐重新拼完整。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2139696"/>
            <a:ext cx="731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78C8C0"/>
                </a:solidFill>
                <a:latin typeface="Bahnschrif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76148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F3E7D3"/>
                </a:solidFill>
                <a:latin typeface="Microsoft YaHei"/>
              </a:rPr>
              <a:t>探索迷宫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3328416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>
                <a:solidFill>
                  <a:srgbClr val="E1D6C7"/>
                </a:solidFill>
                <a:latin typeface="Microsoft YaHei"/>
              </a:rPr>
              <a:t>仅可见周围 2 格</a:t>
            </a:r>
          </a:p>
          <a:p>
            <a:pPr algn="l"/>
            <a:r>
              <a:rPr sz="1300">
                <a:solidFill>
                  <a:srgbClr val="E1D6C7"/>
                </a:solidFill>
                <a:latin typeface="Microsoft YaHei"/>
              </a:rPr>
              <a:t>每局随机生成</a:t>
            </a:r>
          </a:p>
          <a:p>
            <a:pPr algn="l"/>
            <a:r>
              <a:rPr sz="1300">
                <a:solidFill>
                  <a:srgbClr val="E1D6C7"/>
                </a:solidFill>
                <a:latin typeface="Microsoft YaHei"/>
              </a:rPr>
              <a:t>没有两次相同的冒险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59536" y="4718304"/>
            <a:ext cx="214884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59536" y="480974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入口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1296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12463" y="2139696"/>
            <a:ext cx="731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D8B27A"/>
                </a:solidFill>
                <a:latin typeface="Bahnschrif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3" y="276148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F3E7D3"/>
                </a:solidFill>
                <a:latin typeface="Microsoft YaHei"/>
              </a:rPr>
              <a:t>收集音轨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3" y="3328416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E1D6C7"/>
                </a:solidFill>
                <a:latin typeface="Microsoft YaHei"/>
              </a:rPr>
              <a:t>3–5 块音轨碎片</a:t>
            </a:r>
          </a:p>
          <a:p>
            <a:pPr algn="l"/>
            <a:r>
              <a:rPr sz="1300" b="0">
                <a:solidFill>
                  <a:srgbClr val="E1D6C7"/>
                </a:solidFill>
                <a:latin typeface="Microsoft YaHei"/>
              </a:rPr>
              <a:t>每块多一个声部</a:t>
            </a:r>
          </a:p>
          <a:p>
            <a:pPr algn="l"/>
            <a:r>
              <a:rPr sz="1300" b="0">
                <a:solidFill>
                  <a:srgbClr val="E1D6C7"/>
                </a:solidFill>
                <a:latin typeface="Microsoft YaHei"/>
              </a:rPr>
              <a:t>从底音到合奏，逐渐完整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12463" y="4718304"/>
            <a:ext cx="2148841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712463" y="480974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64224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65392" y="2139696"/>
            <a:ext cx="731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D8B27A"/>
                </a:solidFill>
                <a:latin typeface="Bahnschrift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276148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F3E7D3"/>
                </a:solidFill>
                <a:latin typeface="Microsoft YaHei"/>
              </a:rPr>
              <a:t>拼合演出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328416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>
                <a:solidFill>
                  <a:srgbClr val="E1D6C7"/>
                </a:solidFill>
                <a:latin typeface="Microsoft YaHei"/>
              </a:rPr>
              <a:t>碎片飞向中心，拼成唱片</a:t>
            </a:r>
          </a:p>
          <a:p>
            <a:pPr algn="l"/>
            <a:r>
              <a:rPr sz="1300">
                <a:solidFill>
                  <a:srgbClr val="E1D6C7"/>
                </a:solidFill>
                <a:latin typeface="Microsoft YaHei"/>
              </a:rPr>
              <a:t>静默 1 秒，高潮响起</a:t>
            </a:r>
          </a:p>
          <a:p>
            <a:pPr algn="l"/>
            <a:r>
              <a:rPr sz="1300">
                <a:solidFill>
                  <a:srgbClr val="E1D6C7"/>
                </a:solidFill>
                <a:latin typeface="Microsoft YaHei"/>
              </a:rPr>
              <a:t>出口光柱穿透黑暗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65392" y="4718304"/>
            <a:ext cx="214884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65392" y="480974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终局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17152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18320" y="2139696"/>
            <a:ext cx="731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78C8C0"/>
                </a:solidFill>
                <a:latin typeface="Bahnschrift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76148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F3E7D3"/>
                </a:solidFill>
                <a:latin typeface="Microsoft YaHei"/>
              </a:rPr>
              <a:t>与时间赛跑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3328416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>
                <a:solidFill>
                  <a:srgbClr val="E1D6C7"/>
                </a:solidFill>
                <a:latin typeface="Microsoft YaHei"/>
              </a:rPr>
              <a:t>60 / 30 秒提醒</a:t>
            </a:r>
          </a:p>
          <a:p>
            <a:r>
              <a:rPr sz="1300">
                <a:solidFill>
                  <a:srgbClr val="E1D6C7"/>
                </a:solidFill>
                <a:latin typeface="Microsoft YaHei"/>
              </a:rPr>
              <a:t>时间耗尽</a:t>
            </a:r>
          </a:p>
          <a:p>
            <a:r>
              <a:rPr sz="1300">
                <a:solidFill>
                  <a:srgbClr val="E1D6C7"/>
                </a:solidFill>
                <a:latin typeface="Microsoft YaHei"/>
              </a:rPr>
              <a:t>主人循猫叫找到小八</a:t>
            </a:r>
          </a:p>
          <a:p>
            <a:r>
              <a:rPr sz="1300">
                <a:solidFill>
                  <a:srgbClr val="E1D6C7"/>
                </a:solidFill>
                <a:latin typeface="Microsoft YaHei"/>
              </a:rPr>
              <a:t>唱片无法完成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418320" y="4718304"/>
            <a:ext cx="214884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418320" y="480974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出口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522976"/>
            <a:ext cx="10881360" cy="502920"/>
          </a:xfrm>
          <a:prstGeom prst="roundRect">
            <a:avLst/>
          </a:prstGeom>
          <a:solidFill>
            <a:srgbClr val="23172C"/>
          </a:solidFill>
          <a:ln w="10160">
            <a:solidFill>
              <a:srgbClr val="4A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5614416"/>
            <a:ext cx="10332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>
                <a:solidFill>
                  <a:srgbClr val="F3E7D3"/>
                </a:solidFill>
                <a:latin typeface="Microsoft YaHei"/>
              </a:rPr>
              <a:t>找到完整的唱片，找到出口，带它回家。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04  / 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MAZE  /  随机迷宫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三档难度，三种呼吸。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同一 seed 可复现；DFS 生成 + 环路比例控制，保证连通与回路。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65960"/>
            <a:ext cx="3401568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3401568" cy="64008"/>
          </a:xfrm>
          <a:prstGeom prst="rect">
            <a:avLst/>
          </a:prstGeom>
          <a:solidFill>
            <a:srgbClr val="78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7824" y="2185415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F4EBDD"/>
                </a:solidFill>
                <a:latin typeface="Microsoft YaHei"/>
              </a:rPr>
              <a:t>轻松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6609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C8E82"/>
                </a:solidFill>
                <a:latin typeface="Microsoft YaHei"/>
              </a:rPr>
              <a:t>先熟悉黑暗与声音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017520"/>
            <a:ext cx="2880359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16382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迷宫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316382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11 ×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49300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49300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3 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822191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822191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5:00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151376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道具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415137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6 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48056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环路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4805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36976" y="224027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入门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965960"/>
            <a:ext cx="3401568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43400" y="1965960"/>
            <a:ext cx="3401568" cy="64008"/>
          </a:xfrm>
          <a:prstGeom prst="rect">
            <a:avLst/>
          </a:prstGeom>
          <a:solidFill>
            <a:srgbClr val="D8B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62856" y="2185415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F4EBDD"/>
                </a:solidFill>
                <a:latin typeface="Microsoft YaHei"/>
              </a:rPr>
              <a:t>标准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26609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C8E82"/>
                </a:solidFill>
                <a:latin typeface="Microsoft YaHei"/>
              </a:rPr>
              <a:t>完整的回廊体验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62856" y="3017520"/>
            <a:ext cx="288036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62856" y="316382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迷宫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316382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15 × 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62856" y="349300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9240" y="349300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4 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2856" y="3822191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3822191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7:00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62856" y="4151376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道具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415137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8 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2856" y="448056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环路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44805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22008" y="224027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Microsoft YaHei"/>
              </a:rPr>
              <a:t>推荐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28432" y="1965960"/>
            <a:ext cx="3401568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028432" y="1965960"/>
            <a:ext cx="3401568" cy="64008"/>
          </a:xfrm>
          <a:prstGeom prst="rect">
            <a:avLst/>
          </a:prstGeom>
          <a:solidFill>
            <a:srgbClr val="C97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47888" y="2185415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F4EBDD"/>
                </a:solidFill>
                <a:latin typeface="Microsoft YaHei"/>
              </a:rPr>
              <a:t>困难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26609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C8E82"/>
                </a:solidFill>
                <a:latin typeface="Microsoft YaHei"/>
              </a:rPr>
              <a:t>更大、更暗、更少回头路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247888" y="3017520"/>
            <a:ext cx="288036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247888" y="316382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迷宫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4272" y="316382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19 × 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47888" y="349300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34272" y="349300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5 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47888" y="3822191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34272" y="3822191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9:00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47888" y="4151376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道具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34272" y="415137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12 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47888" y="448056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环路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34272" y="44805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07040" y="224027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挑战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50468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9C8E82"/>
                </a:solidFill>
                <a:latin typeface="Microsoft YaHei"/>
              </a:rPr>
              <a:t>碎片按四象限 + BFS 最小间距分散；出口距离随难度增加。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05  / 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ITEMS  /  道具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八种道具，改变路线。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第一次拾取看教学卡；之后只给短提示。用得好是捷径，用错是代价。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hud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9" y="2121408"/>
            <a:ext cx="841248" cy="841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7360" y="219456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蝴蝶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63347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指路 10 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333756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指引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287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yinghuoch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79" y="2121408"/>
            <a:ext cx="841248" cy="8412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26279" y="219456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萤火虫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63347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4 格视野 / 10 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33756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指引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aoxianqi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799" y="2121408"/>
            <a:ext cx="841248" cy="8412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199" y="219456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毛线球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9" y="263347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路径记忆 / 15 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333756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指引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25128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maotia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19" y="2121408"/>
            <a:ext cx="841248" cy="8412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104119" y="219456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猫条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04119" y="263347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每次移动 2 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7080" y="333756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Microsoft YaHei"/>
              </a:rPr>
              <a:t>加速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xiaoyug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59" y="4087368"/>
            <a:ext cx="841248" cy="8412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737360" y="416052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小鱼干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59943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 +20 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530352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Microsoft YaHei"/>
              </a:rPr>
              <a:t>加速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47287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xianhuaji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1879" y="4087368"/>
            <a:ext cx="841248" cy="8412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526279" y="416052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鲜花酒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79" y="459943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方向颠倒 10 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9240" y="530352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风险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6207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jingga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799" y="4087368"/>
            <a:ext cx="841248" cy="84124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15199" y="416052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下水道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199" y="459943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随机传送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530352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风险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25128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hei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19" y="4087368"/>
            <a:ext cx="841248" cy="8412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104119" y="416052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蝙蝠黑羽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119" y="459943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 -10 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27080" y="530352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风险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06  / 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utorial_story.png"/>
          <p:cNvPicPr>
            <a:picLocks noChangeAspect="1"/>
          </p:cNvPicPr>
          <p:nvPr/>
        </p:nvPicPr>
        <p:blipFill>
          <a:blip r:embed="rId2"/>
          <a:srcRect l="16689" r="16689"/>
          <a:stretch>
            <a:fillRect/>
          </a:stretch>
        </p:blipFill>
        <p:spPr>
          <a:xfrm>
            <a:off x="4069080" y="0"/>
            <a:ext cx="8122615" cy="6858000"/>
          </a:xfrm>
          <a:prstGeom prst="rect">
            <a:avLst/>
          </a:prstGeom>
        </p:spPr>
      </p:pic>
      <p:pic>
        <p:nvPicPr>
          <p:cNvPr id="3" name="Picture 2" descr="ppt_left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ONBOARDING  /  新手引导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420624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F4EBDD"/>
                </a:solidFill>
                <a:latin typeface="Microsoft YaHei"/>
              </a:rPr>
              <a:t>第一次进入，
先看一段，再走一遍。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43200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D8B27A"/>
                </a:solidFill>
                <a:latin typeface="Bahnschrif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72491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EBDD"/>
                </a:solidFill>
                <a:latin typeface="Microsoft YaHei"/>
              </a:rPr>
              <a:t>10 秒原片视频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035808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新进入动画 3 · Web 直放 / 原生精灵表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75887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D8B27A"/>
                </a:solidFill>
                <a:latin typeface="Bahnschrif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657599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EBDD"/>
                </a:solidFill>
                <a:latin typeface="Microsoft YaHei"/>
              </a:rPr>
              <a:t>7 × 7 教学迷宫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68496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2 块碎片 / 2 个道具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608576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D8B27A"/>
                </a:solidFill>
                <a:latin typeface="Bahnschrif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590288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EBDD"/>
                </a:solidFill>
                <a:latin typeface="Microsoft YaHei"/>
              </a:rPr>
              <a:t>学会再出发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901184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进入正式三档难度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623560"/>
            <a:ext cx="4114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新进入动画；滑动移动小猫，目标/碎片/道具卡依次替换；成功/失败结算随机展示 5 张插画。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07  / 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AUDIO DESIGN  /  分层音乐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4EBDD"/>
                </a:solidFill>
                <a:latin typeface="Microsoft YaHei"/>
              </a:rPr>
              <a:t>每拾起一块，迷宫就多一层声音。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44752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C8E82"/>
                </a:solidFill>
                <a:latin typeface="Microsoft YaHei"/>
              </a:rPr>
              <a:t>四轨同步启动；每块碎片随机解锁一轨，四轨不重复。最后一块后静默 2.5 秒，再播放原曲高潮。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7" y="2295144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78C8C0"/>
                </a:solidFill>
                <a:latin typeface="Bahnschrif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227685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人声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72491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Bahnschrift"/>
              </a:rPr>
              <a:t>VOCALS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08152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随机一轨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474720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可能：歌声碎片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7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1247" y="3831336"/>
            <a:ext cx="491490" cy="82296"/>
          </a:xfrm>
          <a:prstGeom prst="rect">
            <a:avLst/>
          </a:prstGeom>
          <a:solidFill>
            <a:srgbClr val="78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511296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94176" y="2295144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D8B27A"/>
                </a:solidFill>
                <a:latin typeface="Bahnschrift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9663" y="227685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鼓点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272491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Bahnschrift"/>
              </a:rPr>
              <a:t>DRUMS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176" y="308152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随机二轨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4176" y="3474720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可能：鼓点碎片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94176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94176" y="3831336"/>
            <a:ext cx="845362" cy="82296"/>
          </a:xfrm>
          <a:prstGeom prst="rect">
            <a:avLst/>
          </a:prstGeom>
          <a:solidFill>
            <a:srgbClr val="D8B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364224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47104" y="2295144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D8B27A"/>
                </a:solidFill>
                <a:latin typeface="Bahnschrift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2592" y="227685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贝斯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272491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Bahnschrift"/>
              </a:rPr>
              <a:t>BASS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308152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随机三轨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3474720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可能：低音碎片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47104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547104" y="3831336"/>
            <a:ext cx="1199235" cy="82296"/>
          </a:xfrm>
          <a:prstGeom prst="rect">
            <a:avLst/>
          </a:prstGeom>
          <a:solidFill>
            <a:srgbClr val="D8B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217152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400032" y="2295144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97C7C"/>
                </a:solidFill>
                <a:latin typeface="Bahnschrift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227685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其他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0032" y="272491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Bahnschrift"/>
              </a:rPr>
              <a:t>OTHER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00032" y="308152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随机四轨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00032" y="3474720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可能：奇特的碎片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00032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400032" y="3831336"/>
            <a:ext cx="1553108" cy="82296"/>
          </a:xfrm>
          <a:prstGeom prst="rect">
            <a:avLst/>
          </a:prstGeom>
          <a:solidFill>
            <a:srgbClr val="C97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58368" y="4480560"/>
            <a:ext cx="7680960" cy="841248"/>
          </a:xfrm>
          <a:prstGeom prst="roundRect">
            <a:avLst/>
          </a:prstGeom>
          <a:solidFill>
            <a:srgbClr val="23172C"/>
          </a:solidFill>
          <a:ln w="10160">
            <a:solidFill>
              <a:srgbClr val="4A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4400" y="46177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最后一块碎片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40280" y="45902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D8B27A"/>
                </a:solidFill>
                <a:latin typeface="Microsoft YaHei"/>
              </a:rPr>
              <a:t>→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51760" y="461772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停止四轨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45902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D8B27A"/>
                </a:solidFill>
                <a:latin typeface="Microsoft YaHei"/>
              </a:rPr>
              <a:t>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1960" y="461772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静默 2.5s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45902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D8B27A"/>
                </a:solidFill>
                <a:latin typeface="Microsoft YaHei"/>
              </a:rPr>
              <a:t>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4617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D8B27A"/>
                </a:solidFill>
                <a:latin typeface="Microsoft YaHei"/>
              </a:rPr>
              <a:t>原曲高潮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89320" y="498348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9C8E82"/>
                </a:solidFill>
                <a:latin typeface="Bahnschrift"/>
              </a:rPr>
              <a:t>58s / 58s / 65s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549640" y="4480560"/>
            <a:ext cx="2971800" cy="164592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732520" y="4590288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Microsoft YaHei"/>
              </a:rPr>
              <a:t>高潮来自原曲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4937760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4EBDD"/>
                </a:solidFill>
                <a:latin typeface="Microsoft YaHei"/>
              </a:rPr>
              <a:t>轻松  星河追梦   58s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32520" y="5276088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4EBDD"/>
                </a:solidFill>
                <a:latin typeface="Microsoft YaHei"/>
              </a:rPr>
              <a:t>标准  Lemon        58s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32520" y="5614416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4EBDD"/>
                </a:solidFill>
                <a:latin typeface="Microsoft YaHei"/>
              </a:rPr>
              <a:t>困难  海街寺庙    65s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08  /  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57790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9C8E82"/>
                </a:solidFill>
                <a:latin typeface="Microsoft YaHei"/>
              </a:rPr>
              <a:t>困难模式：第 5 块不再新增音轨，直接进入 2.5 秒静默 → 原曲高潮。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ENGINEERING  /  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把随机性关进笼子。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9C8E82"/>
                </a:solidFill>
                <a:latin typeface="Microsoft YaHei"/>
              </a:rPr>
              <a:t>Cocos Creator 3.8.8 · TypeScript · 1920×1080 · HarmonyOS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2487168" cy="22402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78C8C0"/>
                </a:solidFill>
                <a:latin typeface="Microsoft YaHei"/>
              </a:rPr>
              <a:t>表现层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MazeRenderer · CatView
FogView · HudView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4" y="29718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9C8E82"/>
                </a:solidFill>
                <a:latin typeface="Microsoft YaHe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288" y="2057400"/>
            <a:ext cx="2487168" cy="22402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30168" y="22402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D8B27A"/>
                </a:solidFill>
                <a:latin typeface="Microsoft YaHei"/>
              </a:rPr>
              <a:t>玩法层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0168" y="2715768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DemoGame · PlayerController
ItemSystem · FinaleView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29718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9C8E82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2057400"/>
            <a:ext cx="2487168" cy="22402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91656" y="22402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D8B27A"/>
                </a:solidFill>
                <a:latin typeface="Microsoft YaHei"/>
              </a:rPr>
              <a:t>核心层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2715768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MazeGenerator · Rng
LevelConfig · ProgressStore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663440"/>
            <a:ext cx="8092440" cy="658368"/>
          </a:xfrm>
          <a:prstGeom prst="roundRect">
            <a:avLst/>
          </a:prstGeom>
          <a:solidFill>
            <a:srgbClr val="23172C"/>
          </a:solidFill>
          <a:ln w="10160">
            <a:solidFill>
              <a:srgbClr val="4A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平台层：Cocos 构建 → harmonyos-next → hvigor → signed HAP +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1000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00760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种子测试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6235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600760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种道具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56235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600760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档难度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56235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600760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种结局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09  / 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35C"/>
                </a:solidFill>
                <a:latin typeface="Microsoft YaHei"/>
              </a:rPr>
              <a:t>PROCESS  /  小八监工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57607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3E7D3"/>
                </a:solidFill>
                <a:latin typeface="Microsoft YaHei"/>
              </a:rPr>
              <a:t>主角原型，是每天</a:t>
            </a:r>
          </a:p>
          <a:p>
            <a:pPr algn="l">
              <a:lnSpc>
                <a:spcPct val="120000"/>
              </a:lnSpc>
            </a:pPr>
            <a:r>
              <a:rPr sz="3000" b="1">
                <a:solidFill>
                  <a:srgbClr val="F3E7D3"/>
                </a:solidFill>
                <a:latin typeface="Microsoft YaHei"/>
              </a:rPr>
              <a:t>坐在键盘边的那只猫。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8892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AA9E91"/>
                </a:solidFill>
                <a:latin typeface="Microsoft YaHei"/>
              </a:rPr>
              <a:t>小八负责盯进度、踩键盘、验收每一个版本。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AA9E91"/>
                </a:solidFill>
                <a:latin typeface="Microsoft YaHei"/>
              </a:rPr>
              <a:t>它不写代码，但它决定每个版本能不能过。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4160520"/>
            <a:ext cx="164592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盯屏幕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4160520"/>
            <a:ext cx="164592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踩键盘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4160520"/>
            <a:ext cx="192024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验收版本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8FD3D6"/>
                </a:solidFill>
                <a:latin typeface="Microsoft YaHei"/>
              </a:rPr>
              <a:t>开发过程不是一个人的战斗，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8FD3D6"/>
                </a:solidFill>
                <a:latin typeface="Microsoft YaHei"/>
              </a:rPr>
              <a:t>是猫和人一起把回廊走完。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960120"/>
            <a:ext cx="4526280" cy="2286000"/>
          </a:xfrm>
          <a:prstGeom prst="roundRect">
            <a:avLst/>
          </a:prstGeom>
          <a:solidFill>
            <a:srgbClr val="130E19"/>
          </a:solidFill>
          <a:ln w="12700">
            <a:solidFill>
              <a:srgbClr val="50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86600" y="1143000"/>
            <a:ext cx="4160520" cy="1783080"/>
          </a:xfrm>
          <a:prstGeom prst="rect">
            <a:avLst/>
          </a:prstGeom>
          <a:solidFill>
            <a:srgbClr val="0806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1298448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A9E91"/>
                </a:solidFill>
                <a:latin typeface="Microsoft YaHei"/>
              </a:rPr>
              <a:t>DemoGame.ts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60020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A9E91"/>
                </a:solidFill>
                <a:latin typeface="Microsoft YaHei"/>
              </a:rPr>
              <a:t>MazeRenderer.ts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901952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A9E91"/>
                </a:solidFill>
                <a:latin typeface="Microsoft YaHei"/>
              </a:rPr>
              <a:t>AudioDirector.ts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203704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2B35C"/>
                </a:solidFill>
                <a:latin typeface="Microsoft YaHei"/>
              </a:rPr>
              <a:t>✓ build   ✓ tutorial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505456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2B35C"/>
                </a:solidFill>
                <a:latin typeface="Microsoft YaHei"/>
              </a:rPr>
              <a:t>✓ V5.0  ready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32520" y="3246120"/>
            <a:ext cx="868680" cy="292608"/>
          </a:xfrm>
          <a:prstGeom prst="rect">
            <a:avLst/>
          </a:prstGeom>
          <a:solidFill>
            <a:srgbClr val="28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3529584"/>
            <a:ext cx="2331720" cy="109728"/>
          </a:xfrm>
          <a:prstGeom prst="rect">
            <a:avLst/>
          </a:prstGeom>
          <a:solidFill>
            <a:srgbClr val="28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09560" y="2240280"/>
            <a:ext cx="315468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B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457200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81D30"/>
                </a:solidFill>
                <a:latin typeface="Microsoft YaHei"/>
              </a:rPr>
              <a:t>小八  ·  首席监工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484632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A4646"/>
                </a:solidFill>
                <a:latin typeface="Microsoft YaHei"/>
              </a:rPr>
              <a:t>“这个版本，再改一版。”</a:t>
            </a:r>
          </a:p>
        </p:txBody>
      </p:sp>
      <p:sp>
        <p:nvSpPr>
          <p:cNvPr id="22" name="Rectangle 21"/>
          <p:cNvSpPr/>
          <p:nvPr/>
        </p:nvSpPr>
        <p:spPr>
          <a:xfrm rot="21240000">
            <a:off x="7818120" y="2148840"/>
            <a:ext cx="685800" cy="182880"/>
          </a:xfrm>
          <a:prstGeom prst="rect">
            <a:avLst/>
          </a:prstGeom>
          <a:solidFill>
            <a:srgbClr val="E8C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300000">
            <a:off x="10378440" y="2148840"/>
            <a:ext cx="685800" cy="182880"/>
          </a:xfrm>
          <a:prstGeom prst="rect">
            <a:avLst/>
          </a:prstGeom>
          <a:solidFill>
            <a:srgbClr val="E8C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731520" y="6355080"/>
            <a:ext cx="10698480" cy="0"/>
          </a:xfrm>
          <a:prstGeom prst="line">
            <a:avLst/>
          </a:prstGeom>
          <a:ln w="10160">
            <a:solidFill>
              <a:srgbClr val="4637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642823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A9E91"/>
                </a:solidFill>
                <a:latin typeface="Microsoft YaHei"/>
              </a:rPr>
              <a:t>MEOWLO CORRIDOR  /  V5.0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10  /  13</a:t>
            </a:r>
          </a:p>
        </p:txBody>
      </p:sp>
      <p:pic>
        <p:nvPicPr>
          <p:cNvPr id="27" name="Picture 26" descr="xiaoba_dev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9288" y="2331720"/>
            <a:ext cx="292608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35C"/>
                </a:solidFill>
                <a:latin typeface="Microsoft YaHei"/>
              </a:rPr>
              <a:t>GAMEPLAY  /  实机体验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024128"/>
            <a:ext cx="3840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2800" b="1">
                <a:solidFill>
                  <a:srgbClr val="F3E7D3"/>
                </a:solidFill>
                <a:latin typeface="Microsoft YaHei"/>
              </a:rPr>
              <a:t>走一遍回廊，</a:t>
            </a:r>
          </a:p>
          <a:p>
            <a:pPr>
              <a:lnSpc>
                <a:spcPct val="118000"/>
              </a:lnSpc>
            </a:pPr>
            <a:r>
              <a:rPr sz="2800" b="1">
                <a:solidFill>
                  <a:srgbClr val="F3E7D3"/>
                </a:solidFill>
                <a:latin typeface="Microsoft YaHei"/>
              </a:rPr>
              <a:t>听一首歌</a:t>
            </a:r>
          </a:p>
          <a:p>
            <a:pPr>
              <a:lnSpc>
                <a:spcPct val="118000"/>
              </a:lnSpc>
            </a:pPr>
            <a:r>
              <a:rPr sz="2800" b="1">
                <a:solidFill>
                  <a:srgbClr val="F3E7D3"/>
                </a:solidFill>
                <a:latin typeface="Microsoft YaHei"/>
              </a:rPr>
              <a:t>慢慢完整。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154680"/>
            <a:ext cx="3840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AA9E91"/>
                </a:solidFill>
                <a:latin typeface="Microsoft YaHei"/>
              </a:rPr>
              <a:t>45 秒实机录屏：探索、拾取、拼合、终局。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160520"/>
            <a:ext cx="1143000" cy="365760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3E7D3"/>
                </a:solidFill>
                <a:latin typeface="Microsoft YaHei"/>
              </a:rPr>
              <a:t>探索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4160520"/>
            <a:ext cx="1143000" cy="365760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3E7D3"/>
                </a:solidFill>
                <a:latin typeface="Microsoft YaHei"/>
              </a:rPr>
              <a:t>拾取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4160520"/>
            <a:ext cx="1143000" cy="365760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3E7D3"/>
                </a:solidFill>
                <a:latin typeface="Microsoft YaHei"/>
              </a:rPr>
              <a:t>终局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510235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A9E91"/>
                </a:solidFill>
                <a:latin typeface="Microsoft YaHei"/>
              </a:rPr>
              <a:t>点击播放 · 00:45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2040" y="960120"/>
            <a:ext cx="6675120" cy="3977639"/>
          </a:xfrm>
          <a:prstGeom prst="roundRect">
            <a:avLst/>
          </a:prstGeom>
          <a:solidFill>
            <a:srgbClr val="07050B"/>
          </a:solidFill>
          <a:ln w="12700">
            <a:solidFill>
              <a:srgbClr val="50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gameplay_v5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892040" y="1051560"/>
            <a:ext cx="6675120" cy="3730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642823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A9E91"/>
                </a:solidFill>
                <a:latin typeface="Microsoft YaHei"/>
              </a:rPr>
              <a:t>MEOWLO CORRIDOR  /  V5.0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11  / 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1078992"/>
            <a:ext cx="54864" cy="1371600"/>
          </a:xfrm>
          <a:prstGeom prst="rect">
            <a:avLst/>
          </a:prstGeom>
          <a:solidFill>
            <a:srgbClr val="F2B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DELIVERY  /  V5.0 交付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这次，打包到可以交付。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01952"/>
            <a:ext cx="5166360" cy="2395728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3544" y="2084832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D8B27A"/>
                </a:solidFill>
                <a:latin typeface="Bahnschrift"/>
              </a:rPr>
              <a:t>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2523744"/>
            <a:ext cx="4663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F4EBDD"/>
                </a:solidFill>
                <a:latin typeface="Microsoft YaHei"/>
              </a:rPr>
              <a:t>喵音回廊-V5.0-Debug.hap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3529584"/>
            <a:ext cx="4663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SHA-256  8fefd16b3821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895344"/>
            <a:ext cx="4389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真机安装 / hdc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901952"/>
            <a:ext cx="5166360" cy="2395728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9944" y="2084832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D8B27A"/>
                </a:solidFill>
                <a:latin typeface="Bahnschrift"/>
              </a:rPr>
              <a:t>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2523744"/>
            <a:ext cx="4663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F4EBDD"/>
                </a:solidFill>
                <a:latin typeface="Microsoft YaHei"/>
              </a:rPr>
              <a:t>喵音回廊-V5.0-Debug.app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3529584"/>
            <a:ext cx="4663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SHA-256  09a7ef4eb596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3895344"/>
            <a:ext cx="4389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AGC 上传 / 内测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6817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F4EBDD"/>
                </a:solidFill>
                <a:latin typeface="Microsoft YaHei"/>
              </a:rPr>
              <a:t>Debug 构建 · HAP 214.7 MB / APP 214.4 MB · arm64-v8a · 横屏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074920"/>
            <a:ext cx="10789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Web V5.0 同步交付（144.7 MB）；官方模拟器为 x86_64，与 arm64 原生库 ABI 不匹配，真机/云真机验证更可靠。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12  / 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enu_bg.pn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ppt_dark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THANK YOU  /  V5.0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28800"/>
            <a:ext cx="64008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4EBDD"/>
                </a:solidFill>
                <a:latin typeface="Microsoft YaHei"/>
              </a:rPr>
              <a:t>让唱片
重新转起来。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3977639"/>
            <a:ext cx="4572000" cy="0"/>
          </a:xfrm>
          <a:prstGeom prst="line">
            <a:avLst/>
          </a:prstGeom>
          <a:ln w="12700">
            <a:solidFill>
              <a:srgbClr val="D8B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4114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D8B27A"/>
                </a:solidFill>
                <a:latin typeface="Microsoft YaHei"/>
              </a:rPr>
              <a:t>喵音回廊  ·  Meowlo Corridor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553712"/>
            <a:ext cx="5943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9C8E82"/>
                </a:solidFill>
                <a:latin typeface="Microsoft YaHei"/>
              </a:rPr>
              <a:t>一只猫，一座会呼吸的迷宫，一张被摔碎的唱片。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>
                <a:solidFill>
                  <a:srgbClr val="AA9E91"/>
                </a:solidFill>
              </a:rPr>
              <a:t>13  /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545</Words>
  <Application>Microsoft Office PowerPoint</Application>
  <PresentationFormat>宽屏</PresentationFormat>
  <Paragraphs>202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5" baseType="lpstr">
      <vt:lpstr>Microsoft YaHei</vt:lpstr>
      <vt:lpstr>Arial</vt:lpstr>
      <vt:lpstr>Bahnschrift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信哲 边</cp:lastModifiedBy>
  <cp:revision>2</cp:revision>
  <dcterms:created xsi:type="dcterms:W3CDTF">2013-01-27T09:14:16Z</dcterms:created>
  <dcterms:modified xsi:type="dcterms:W3CDTF">2026-10-27T19:00:43Z</dcterms:modified>
  <cp:category/>
</cp:coreProperties>
</file>